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c9883f34804d06" /><Relationship Type="http://schemas.openxmlformats.org/officeDocument/2006/relationships/extended-properties" Target="/docProps/app.xml" Id="R4b01b2127eba467f" /><Relationship Type="http://schemas.openxmlformats.org/officeDocument/2006/relationships/officeDocument" Target="/ppt/presentation.xml" Id="R15546a02645747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d7b377837d4775"/>
  </p:sldMasterIdLst>
  <p:notesMasterIdLst>
    <p:notesMasterId xmlns:r="http://schemas.openxmlformats.org/officeDocument/2006/relationships" r:id="R7cd7aee40516408e"/>
  </p:notesMasterIdLst>
  <p:sldIdLst>
    <p:sldId xmlns:r="http://schemas.openxmlformats.org/officeDocument/2006/relationships" id="256" r:id="R181d1ee71298495b"/>
    <p:sldId xmlns:r="http://schemas.openxmlformats.org/officeDocument/2006/relationships" id="257" r:id="R58174a0fc87245f3"/>
    <p:sldId xmlns:r="http://schemas.openxmlformats.org/officeDocument/2006/relationships" id="258" r:id="R3468095e88ef437b"/>
    <p:sldId xmlns:r="http://schemas.openxmlformats.org/officeDocument/2006/relationships" id="259" r:id="R1ea12dec8bc54960"/>
    <p:sldId xmlns:r="http://schemas.openxmlformats.org/officeDocument/2006/relationships" id="260" r:id="R5124dda6e545490a"/>
    <p:sldId xmlns:r="http://schemas.openxmlformats.org/officeDocument/2006/relationships" id="261" r:id="R8a563b2e8e274ad9"/>
    <p:sldId xmlns:r="http://schemas.openxmlformats.org/officeDocument/2006/relationships" id="262" r:id="Rfe54a1fc2f22407c"/>
    <p:sldId xmlns:r="http://schemas.openxmlformats.org/officeDocument/2006/relationships" id="263" r:id="R1ad62fae46554953"/>
    <p:sldId xmlns:r="http://schemas.openxmlformats.org/officeDocument/2006/relationships" id="264" r:id="Rda683f5b022f464e"/>
    <p:sldId xmlns:r="http://schemas.openxmlformats.org/officeDocument/2006/relationships" id="265" r:id="R3f751cd804b446f4"/>
    <p:sldId xmlns:r="http://schemas.openxmlformats.org/officeDocument/2006/relationships" id="266" r:id="Rcb9175c0ab5b4cde"/>
    <p:sldId xmlns:r="http://schemas.openxmlformats.org/officeDocument/2006/relationships" id="267" r:id="R9f7e34f2a7414d92"/>
    <p:sldId xmlns:r="http://schemas.openxmlformats.org/officeDocument/2006/relationships" id="268" r:id="R9dc46dae92fb47cc"/>
    <p:sldId xmlns:r="http://schemas.openxmlformats.org/officeDocument/2006/relationships" id="269" r:id="Rfdf31c3cfd3940e0"/>
    <p:sldId xmlns:r="http://schemas.openxmlformats.org/officeDocument/2006/relationships" id="270" r:id="R5d156de600254b39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c61045e5cd44d8" /><Relationship Type="http://schemas.openxmlformats.org/officeDocument/2006/relationships/slideMaster" Target="/ppt/slideMasters/slideMaster1.xml" Id="Re5d7b377837d4775" /><Relationship Type="http://schemas.openxmlformats.org/officeDocument/2006/relationships/notesMaster" Target="/ppt/notesMasters/notesMaster1.xml" Id="R7cd7aee40516408e" /><Relationship Type="http://schemas.openxmlformats.org/officeDocument/2006/relationships/presProps" Target="/ppt/presProps.xml" Id="R60ee77ffb95e4d57" /><Relationship Type="http://schemas.openxmlformats.org/officeDocument/2006/relationships/viewProps" Target="/ppt/viewProps.xml" Id="R8a76a83c3eb947cd" /><Relationship Type="http://schemas.openxmlformats.org/officeDocument/2006/relationships/tableStyles" Target="/ppt/tableStyles.xml" Id="Rf9ec32f996144746" /><Relationship Type="http://schemas.openxmlformats.org/officeDocument/2006/relationships/slide" Target="/ppt/slides/slide1.xml" Id="R181d1ee71298495b" /><Relationship Type="http://schemas.openxmlformats.org/officeDocument/2006/relationships/slide" Target="/ppt/slides/slide2.xml" Id="R58174a0fc87245f3" /><Relationship Type="http://schemas.openxmlformats.org/officeDocument/2006/relationships/slide" Target="/ppt/slides/slide3.xml" Id="R3468095e88ef437b" /><Relationship Type="http://schemas.openxmlformats.org/officeDocument/2006/relationships/slide" Target="/ppt/slides/slide4.xml" Id="R1ea12dec8bc54960" /><Relationship Type="http://schemas.openxmlformats.org/officeDocument/2006/relationships/slide" Target="/ppt/slides/slide5.xml" Id="R5124dda6e545490a" /><Relationship Type="http://schemas.openxmlformats.org/officeDocument/2006/relationships/slide" Target="/ppt/slides/slide6.xml" Id="R8a563b2e8e274ad9" /><Relationship Type="http://schemas.openxmlformats.org/officeDocument/2006/relationships/slide" Target="/ppt/slides/slide7.xml" Id="Rfe54a1fc2f22407c" /><Relationship Type="http://schemas.openxmlformats.org/officeDocument/2006/relationships/slide" Target="/ppt/slides/slide8.xml" Id="R1ad62fae46554953" /><Relationship Type="http://schemas.openxmlformats.org/officeDocument/2006/relationships/slide" Target="/ppt/slides/slide9.xml" Id="Rda683f5b022f464e" /><Relationship Type="http://schemas.openxmlformats.org/officeDocument/2006/relationships/slide" Target="/ppt/slides/slide10.xml" Id="R3f751cd804b446f4" /><Relationship Type="http://schemas.openxmlformats.org/officeDocument/2006/relationships/slide" Target="/ppt/slides/slide11.xml" Id="Rcb9175c0ab5b4cde" /><Relationship Type="http://schemas.openxmlformats.org/officeDocument/2006/relationships/slide" Target="/ppt/slides/slide12.xml" Id="R9f7e34f2a7414d92" /><Relationship Type="http://schemas.openxmlformats.org/officeDocument/2006/relationships/slide" Target="/ppt/slides/slide13.xml" Id="R9dc46dae92fb47cc" /><Relationship Type="http://schemas.openxmlformats.org/officeDocument/2006/relationships/slide" Target="/ppt/slides/slide14.xml" Id="Rfdf31c3cfd3940e0" /><Relationship Type="http://schemas.openxmlformats.org/officeDocument/2006/relationships/slide" Target="/ppt/slides/slide15.xml" Id="R5d156de600254b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838d63156f41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79111cda63462b" /><Relationship Type="http://schemas.openxmlformats.org/officeDocument/2006/relationships/notesMaster" Target="/ppt/notesMasters/notesMaster1.xml" Id="Rabcc0367b98647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f5fc79aa51465e" /><Relationship Type="http://schemas.openxmlformats.org/officeDocument/2006/relationships/notesMaster" Target="/ppt/notesMasters/notesMaster1.xml" Id="R2f1770e07ebc4c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81eec99ab54b28" /><Relationship Type="http://schemas.openxmlformats.org/officeDocument/2006/relationships/notesMaster" Target="/ppt/notesMasters/notesMaster1.xml" Id="R2b57f98a8a8941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9a6a371afa483f" /><Relationship Type="http://schemas.openxmlformats.org/officeDocument/2006/relationships/notesMaster" Target="/ppt/notesMasters/notesMaster1.xml" Id="R10453079884541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64c5ce4dcd42a2" /><Relationship Type="http://schemas.openxmlformats.org/officeDocument/2006/relationships/notesMaster" Target="/ppt/notesMasters/notesMaster1.xml" Id="R53b1e86a51ab4b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25bc6b64f54be6" /><Relationship Type="http://schemas.openxmlformats.org/officeDocument/2006/relationships/notesMaster" Target="/ppt/notesMasters/notesMaster1.xml" Id="R4c15a15a8e9a4d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30b6598d4d488f" /><Relationship Type="http://schemas.openxmlformats.org/officeDocument/2006/relationships/notesMaster" Target="/ppt/notesMasters/notesMaster1.xml" Id="R19832ca6175b4e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f70fa8fe6c48b6" /><Relationship Type="http://schemas.openxmlformats.org/officeDocument/2006/relationships/notesMaster" Target="/ppt/notesMasters/notesMaster1.xml" Id="Rb90eff263fb24a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13c9f1978145b4" /><Relationship Type="http://schemas.openxmlformats.org/officeDocument/2006/relationships/notesMaster" Target="/ppt/notesMasters/notesMaster1.xml" Id="R5b7f531d60a54e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559dd487da46d5" /><Relationship Type="http://schemas.openxmlformats.org/officeDocument/2006/relationships/notesMaster" Target="/ppt/notesMasters/notesMaster1.xml" Id="Rbc1864cfbaa24e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0c3467b4754535" /><Relationship Type="http://schemas.openxmlformats.org/officeDocument/2006/relationships/notesMaster" Target="/ppt/notesMasters/notesMaster1.xml" Id="Rb18c2cb72b9043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04143f04ae49ec" /><Relationship Type="http://schemas.openxmlformats.org/officeDocument/2006/relationships/notesMaster" Target="/ppt/notesMasters/notesMaster1.xml" Id="R66db446ccb5f4f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ea6ef6427945bf" /><Relationship Type="http://schemas.openxmlformats.org/officeDocument/2006/relationships/notesMaster" Target="/ppt/notesMasters/notesMaster1.xml" Id="R781a220d761c41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6d1cf2639e4047" /><Relationship Type="http://schemas.openxmlformats.org/officeDocument/2006/relationships/notesMaster" Target="/ppt/notesMasters/notesMaster1.xml" Id="Rbecc472a872243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b51dcb4b4d46ea" /><Relationship Type="http://schemas.openxmlformats.org/officeDocument/2006/relationships/notesMaster" Target="/ppt/notesMasters/notesMaster1.xml" Id="R5dc4b4c0a9f848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D:/Ted_data/sci-club-toolkit/README.md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D:/Ted_data/sci-club-toolkit/workshop.html</a:t>
            </a:r>
          </a:p>
          <a:p xmlns:a="http://schemas.openxmlformats.org/drawingml/2006/main">
            <a:r>
              <a:t>- D:/Ted_data/sci-club-toolkit/參考-官方事實與已查證資料.md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D:/Ted_data/sci-club-toolkit/參考-官方事實與已查證資料.md</a:t>
            </a:r>
          </a:p>
          <a:p xmlns:a="http://schemas.openxmlformats.org/drawingml/2006/main">
            <a:r>
              <a:t>- D:/Ted_data/sci-club-toolkit/needs.html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D:/Ted_data/sci-club-toolkit/step3.html</a:t>
            </a:r>
          </a:p>
          <a:p xmlns:a="http://schemas.openxmlformats.org/drawingml/2006/main">
            <a:r>
              <a:t>- D:/Ted_data/sci-club-toolkit/參考-官方事實與已查證資料.md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D:/Ted_data/sci-club-toolkit/method.html</a:t>
            </a:r>
          </a:p>
          <a:p xmlns:a="http://schemas.openxmlformats.org/drawingml/2006/main">
            <a:r>
              <a:t>- D:/Ted_data/sci-club-toolkit/step3.html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D:/Ted_data/sci-club-toolkit/step3.html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D:/Ted_data/sci-club-toolkit/step3.html</a:t>
            </a:r>
          </a:p>
          <a:p xmlns:a="http://schemas.openxmlformats.org/drawingml/2006/main">
            <a:r>
              <a:t>- D:/Ted_data/sci-club-toolkit/method.html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D:/Ted_data/sci-club-toolkit/workshop.html</a:t>
            </a:r>
          </a:p>
          <a:p xmlns:a="http://schemas.openxmlformats.org/drawingml/2006/main">
            <a:r>
              <a:t>- D:/Ted_data/sci-club-toolkit/step2.html</a:t>
            </a:r>
          </a:p>
          <a:p xmlns:a="http://schemas.openxmlformats.org/drawingml/2006/main">
            <a:r>
              <a:t>- D:/Ted_data/sci-club-toolkit/step3.html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D:/Ted_data/sci-club-toolkit/參考-官方事實與已查證資料.md</a:t>
            </a:r>
          </a:p>
          <a:p xmlns:a="http://schemas.openxmlformats.org/drawingml/2006/main">
            <a:r>
              <a:t>- D:/Ted_data/sci-club-toolkit/step2.html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https://rlirdo.github.io/yangwang-club-manager/</a:t>
            </a:r>
          </a:p>
          <a:p xmlns:a="http://schemas.openxmlformats.org/drawingml/2006/main">
            <a:r>
              <a:t>- D:/Ted_data/sci-club-toolkit/工單-下半場改善.md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D:/Ted_data/sci-club-toolkit/參考-官方事實與已查證資料.md</a:t>
            </a:r>
          </a:p>
          <a:p xmlns:a="http://schemas.openxmlformats.org/drawingml/2006/main">
            <a:r>
              <a:t>- D:/Ted_data/sci-club-toolkit/workshop.html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D:/Ted_data/sci-club-toolkit/step5.html</a:t>
            </a:r>
          </a:p>
          <a:p xmlns:a="http://schemas.openxmlformats.org/drawingml/2006/main">
            <a:r>
              <a:t>- D:/Ted_data/sci-club-toolkit/參考-官方事實與已查證資料.md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D:/Ted_data/sci-club-toolkit/README.md</a:t>
            </a:r>
          </a:p>
          <a:p xmlns:a="http://schemas.openxmlformats.org/drawingml/2006/main">
            <a:r>
              <a:t>- D:/Ted_data/sci-club-toolkit/github.html</a:t>
            </a:r>
          </a:p>
          <a:p xmlns:a="http://schemas.openxmlformats.org/drawingml/2006/main">
            <a:r>
              <a:t>- https://rlirdo.github.io/yangwang-club-manager/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D:/Ted_data/sci-club-toolkit/step2.html</a:t>
            </a:r>
          </a:p>
          <a:p xmlns:a="http://schemas.openxmlformats.org/drawingml/2006/main">
            <a:r>
              <a:t>- D:/Ted_data/sci-club-toolkit/step3.html</a:t>
            </a:r>
          </a:p>
          <a:p xmlns:a="http://schemas.openxmlformats.org/drawingml/2006/main">
            <a:r>
              <a:t>- D:/Ted_data/sci-club-toolkit/github.html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D:/Ted_data/sci-club-toolkit/README.md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5b0a31bc784b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f04b68c6e45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a1e3e663042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3913f5a874b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5db6de060144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d9e7712e824b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fa4b5296b4d3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6f4d323384d7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0709ebebd402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34363780c4e5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65a31675e461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08CEE5-6E6F-46E4-A5DE-083B02B6662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BEF79FE-8783-4038-AE30-7A73215828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0D7CC2-FAB5-42CD-A01A-38AFACFAF7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AE13B2-376E-4E4C-864E-6B961704AF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7A6849-29C0-4318-A9D6-962338B0FE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B77E7B-4226-4F36-AC11-78E196AE0A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F9A816F-670D-4633-9962-E0806523FB1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80A4EA-9D44-4A27-B985-FCCCEC22D7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DA6BB0-313D-4D95-A9EC-FCD0C9DD9B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DABF3B-D6F2-408B-9E97-BDDDEBE134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91644C-EDD4-4855-88D3-CC2310338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987CB11-D041-4FA1-ADD9-AB43EB701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61E1AE-B510-4B81-A487-A40C887036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88D471-1C65-4AF8-974D-AAEBCC7A39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B2FF3F-AFC3-469E-A12A-2754E685BA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CE05F0-B2F8-4A80-AB29-9B41CAAAB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79C006-3B31-41EC-A3C5-B70F4217A4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2CAF036-A0DB-41B1-91B1-D5BEA0CA6A5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44392FA-D7B3-4D7A-A3C9-31E78CBAF1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9F9DD6-30A3-4EAC-8F78-8639B91E8C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57E044-5EA6-4C72-9F9C-C750BAF331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62A8B1-56D5-472A-A27E-33CB665D02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BAB3467-2673-4D0A-BADB-0D93EC939B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B1C4F0B-2CFC-4EB5-9403-C5DB06A46DA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CACD55F-8B4A-4E05-984A-12A82773835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E996768-C5B8-4F75-9DD1-C422726F17F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3FDD09A-9EC8-4F4A-9EBA-C8EC555BF2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9FBA397-76E7-47B1-81CC-34125A317A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0037CEF-1E99-491E-96D2-CF491E6C14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3BCDE4-66D7-49B7-8D98-6682BCA94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991C663-9EA7-474E-AE5C-E2E5D5A438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5B7D870-75B3-46F8-B9BE-698A349FDD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68AD1CE-2492-4C62-B5E0-63E16CEAC8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7A406AE-5469-4E60-B040-263F62F474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2283C30-0610-446B-AFD7-42473D408F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AE8D950-5CE2-4718-AB68-A5996E5088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171E8D-CA13-4698-AE21-E94EDB75DB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9DA520-F7BF-4A36-A5D4-930D67D5C2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B81C4EC-E469-4727-9FB3-4D2084F955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E928C72-2B23-4EB4-8F0D-F5C9B6154F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D02B5B4-C840-4ABB-95A2-9F8DCB6AD7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2572D74-3CFA-4001-A437-3075737229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15814F-6438-4C3D-A1B5-F597D76317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EFF9A47-CA8F-43F2-846F-0C54F3E21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14EA2A7-5EE6-4D0D-844B-A618B30337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6CC6A7A-2193-4B0A-A2ED-9BAB84A076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F3EA398-FD9C-485F-BC74-AD8B6386F4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9E12DC2-278A-4A38-A3A6-6B06188567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54ACD4-917C-40D9-8664-53587A0597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C43C7AF-9D4A-49C1-9E2B-C65D2894FC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AFD4FEE-571F-4D9F-B598-CABEF790D8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BF6BE6-5057-4673-BF1D-C45DAAF130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575189-8E5F-4F24-9685-4354D67EF7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AC015A2-DF5D-4FF5-BE92-5426F0991D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762F1F2-571B-4C41-B332-612EEDF357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80007E-91A2-4D72-9E13-F8E5B9ECFD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CC1E23-C8CB-4A92-9D08-60B5E1B078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569BE2-B6E7-4ABA-8685-F34D6A6ECE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23666133fa4f34" /><Relationship Type="http://schemas.openxmlformats.org/officeDocument/2006/relationships/slideLayout" Target="/ppt/slideLayouts/slideLayout1.xml" Id="Rbe725504f1b94523" /><Relationship Type="http://schemas.openxmlformats.org/officeDocument/2006/relationships/slideLayout" Target="/ppt/slideLayouts/slideLayout2.xml" Id="R0404c5b16f8645f4" /><Relationship Type="http://schemas.openxmlformats.org/officeDocument/2006/relationships/slideLayout" Target="/ppt/slideLayouts/slideLayout3.xml" Id="R297cdc691ede4747" /><Relationship Type="http://schemas.openxmlformats.org/officeDocument/2006/relationships/slideLayout" Target="/ppt/slideLayouts/slideLayout4.xml" Id="R552cfddbd9914d28" /><Relationship Type="http://schemas.openxmlformats.org/officeDocument/2006/relationships/slideLayout" Target="/ppt/slideLayouts/slideLayout5.xml" Id="R9c16b68ddb144dfa" /><Relationship Type="http://schemas.openxmlformats.org/officeDocument/2006/relationships/slideLayout" Target="/ppt/slideLayouts/slideLayout6.xml" Id="R740d6aafe3d24a28" /><Relationship Type="http://schemas.openxmlformats.org/officeDocument/2006/relationships/slideLayout" Target="/ppt/slideLayouts/slideLayout7.xml" Id="Rec04562a4fa14c26" /><Relationship Type="http://schemas.openxmlformats.org/officeDocument/2006/relationships/slideLayout" Target="/ppt/slideLayouts/slideLayout8.xml" Id="Rb0ddd3b172e6409f" /><Relationship Type="http://schemas.openxmlformats.org/officeDocument/2006/relationships/slideLayout" Target="/ppt/slideLayouts/slideLayout9.xml" Id="R7c7c3f06ab3846a8" /><Relationship Type="http://schemas.openxmlformats.org/officeDocument/2006/relationships/slideLayout" Target="/ppt/slideLayouts/slideLayout10.xml" Id="Raab256c67c0c4f41" /><Relationship Type="http://schemas.openxmlformats.org/officeDocument/2006/relationships/slideLayout" Target="/ppt/slideLayouts/slideLayout11.xml" Id="R7c696c72f2874e9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D583036-22A8-4454-965B-527D609CC9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D2CE1F-1D5E-4410-A87C-10AE606E12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DEBB1B5-ADB2-43BC-B9C9-8194F405BF4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C1A4E9-E141-4178-B379-C8ACD0BDE35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CCFDA6-7A5A-4904-9859-B88A5EC0CFC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725504f1b94523"/>
    <p:sldLayoutId xmlns:r="http://schemas.openxmlformats.org/officeDocument/2006/relationships" id="2147483650" r:id="R0404c5b16f8645f4"/>
    <p:sldLayoutId xmlns:r="http://schemas.openxmlformats.org/officeDocument/2006/relationships" id="2147483651" r:id="R297cdc691ede4747"/>
    <p:sldLayoutId xmlns:r="http://schemas.openxmlformats.org/officeDocument/2006/relationships" id="2147483652" r:id="R552cfddbd9914d28"/>
    <p:sldLayoutId xmlns:r="http://schemas.openxmlformats.org/officeDocument/2006/relationships" id="2147483653" r:id="R9c16b68ddb144dfa"/>
    <p:sldLayoutId xmlns:r="http://schemas.openxmlformats.org/officeDocument/2006/relationships" id="2147483654" r:id="R740d6aafe3d24a28"/>
    <p:sldLayoutId xmlns:r="http://schemas.openxmlformats.org/officeDocument/2006/relationships" id="2147483655" r:id="Rec04562a4fa14c26"/>
    <p:sldLayoutId xmlns:r="http://schemas.openxmlformats.org/officeDocument/2006/relationships" id="2147483656" r:id="Rb0ddd3b172e6409f"/>
    <p:sldLayoutId xmlns:r="http://schemas.openxmlformats.org/officeDocument/2006/relationships" id="2147483657" r:id="R7c7c3f06ab3846a8"/>
    <p:sldLayoutId xmlns:r="http://schemas.openxmlformats.org/officeDocument/2006/relationships" id="2147483658" r:id="Raab256c67c0c4f41"/>
    <p:sldLayoutId xmlns:r="http://schemas.openxmlformats.org/officeDocument/2006/relationships" id="2147483659" r:id="R7c696c72f2874e9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863b9ea7214bfb" /><Relationship Type="http://schemas.openxmlformats.org/officeDocument/2006/relationships/notesSlide" Target="/ppt/notesSlides/notesSlide1.xml" Id="Rce3b56079d6c48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e9d3cd4a92455f" /><Relationship Type="http://schemas.openxmlformats.org/officeDocument/2006/relationships/notesSlide" Target="/ppt/notesSlides/notesSlide2.xml" Id="Rcfc609503f2b41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3b5d9db43846b3" /><Relationship Type="http://schemas.openxmlformats.org/officeDocument/2006/relationships/notesSlide" Target="/ppt/notesSlides/notesSlide3.xml" Id="R81918b39807b48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c1400cac404efc" /><Relationship Type="http://schemas.openxmlformats.org/officeDocument/2006/relationships/notesSlide" Target="/ppt/notesSlides/notesSlide4.xml" Id="R7816ce0e7c824f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81885cd4c942ba" /><Relationship Type="http://schemas.openxmlformats.org/officeDocument/2006/relationships/notesSlide" Target="/ppt/notesSlides/notesSlide5.xml" Id="R08796a01e90d48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5e9aa92b7c43cd" /><Relationship Type="http://schemas.openxmlformats.org/officeDocument/2006/relationships/notesSlide" Target="/ppt/notesSlides/notesSlide6.xml" Id="R76034d2eef6441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e0dc260e9141b0" /><Relationship Type="http://schemas.openxmlformats.org/officeDocument/2006/relationships/notesSlide" Target="/ppt/notesSlides/notesSlide7.xml" Id="Re6bb5e45f9fa4e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9a54d8066148a0" /><Relationship Type="http://schemas.openxmlformats.org/officeDocument/2006/relationships/notesSlide" Target="/ppt/notesSlides/notesSlide8.xml" Id="R424a1cd9c61c4a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2aa2f685b64b7f" /><Relationship Type="http://schemas.openxmlformats.org/officeDocument/2006/relationships/notesSlide" Target="/ppt/notesSlides/notesSlide9.xml" Id="R841e5ba9885f4d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3fd635a17f4485" /><Relationship Type="http://schemas.openxmlformats.org/officeDocument/2006/relationships/notesSlide" Target="/ppt/notesSlides/notesSlide10.xml" Id="Rfbb5dc40c4f340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a389d836464d51" /><Relationship Type="http://schemas.openxmlformats.org/officeDocument/2006/relationships/notesSlide" Target="/ppt/notesSlides/notesSlide11.xml" Id="R9c8f7d5ae69d47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c1b215903b4801" /><Relationship Type="http://schemas.openxmlformats.org/officeDocument/2006/relationships/notesSlide" Target="/ppt/notesSlides/notesSlide12.xml" Id="R2de166c5c96e47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eeb26211804505" /><Relationship Type="http://schemas.openxmlformats.org/officeDocument/2006/relationships/notesSlide" Target="/ppt/notesSlides/notesSlide13.xml" Id="R82b0aef9436a4c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b6b91d2b164375" /><Relationship Type="http://schemas.openxmlformats.org/officeDocument/2006/relationships/notesSlide" Target="/ppt/notesSlides/notesSlide14.xml" Id="R6520019ca07048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1d9577de5241f1" /><Relationship Type="http://schemas.openxmlformats.org/officeDocument/2006/relationships/notesSlide" Target="/ppt/notesSlides/notesSlide15.xml" Id="Rc80ead73dc884e9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3F714F-4D87-413A-815F-5876E80C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63596DAE-BB8F-4CFF-9CFC-157898CA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735" y="-146304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DA49105D-C580-4FCC-9A4A-ED1C9C48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466344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54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0BF35EE-E421-45ED-B30E-654F988E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2588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600" b="1" i="0">
                <a:solidFill>
                  <a:srgbClr val="5FA98A"/>
                </a:solidFill>
                <a:latin typeface="Microsoft JhengHei"/>
                <a:ea typeface="Microsoft JhengHei"/>
                <a:cs typeface="Microsoft JhengHei"/>
              </a:rPr>
              <a:t>國中小科學社團扶助計畫・花蓮地區科學社團教師研習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1F41A4-EF9B-4B6D-8680-8A9BEA4A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1060704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把你想做的事做好，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報告就寫完了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8E4F118-76BF-4F42-A125-D1911EBD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0" i="1">
                <a:solidFill>
                  <a:srgbClr val="9FB4CC"/>
                </a:solidFill>
                <a:latin typeface="Microsoft JhengHei"/>
                <a:ea typeface="Microsoft JhengHei"/>
                <a:cs typeface="Microsoft JhengHei"/>
              </a:rPr>
              <a:t>Hands-on II &amp; III : Student Feedback, Attendance &amp; Reimbursement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F65E335-A1AC-4803-9E64-1AB608D4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0"/>
            <a:ext cx="1572768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學生回饋單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F7DE50A-8BDD-4D87-9FB9-BDAAED65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206240"/>
            <a:ext cx="2999232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名單・出席・材料費對帳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92374B2-38FB-4BE5-A457-855292F6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144" y="4206240"/>
            <a:ext cx="133502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成果展示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12FB99C-403E-4993-9EAA-564E2023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206240"/>
            <a:ext cx="154076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10:35–12:00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4F7F95C-417E-4001-BEF4-B591CC92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20640"/>
            <a:ext cx="3840480" cy="12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A44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47FEBF7-5B36-4190-AB4F-1C8A7202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游豐兆</a:t>
            </a:r>
            <a:r>
              <a:rPr sz="1400" b="0" i="0">
                <a:solidFill>
                  <a:srgbClr val="9FB4CC"/>
                </a:solidFill>
                <a:latin typeface="Microsoft JhengHei"/>
                <a:ea typeface="Microsoft JhengHei"/>
                <a:cs typeface="Microsoft JhengHei"/>
              </a:rPr>
              <a:t>　國立東華大學自然資源與環境學系 博士生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300" b="0" i="0">
                <a:solidFill>
                  <a:srgbClr val="9FB4CC"/>
                </a:solidFill>
                <a:latin typeface="Microsoft JhengHei"/>
                <a:ea typeface="Microsoft JhengHei"/>
                <a:cs typeface="Microsoft JhengHei"/>
              </a:rPr>
              <a:t>2026/08/19（三）　東華大學環境學院 A124</a:t>
            </a:r>
          </a:p>
        </p:txBody>
      </p:sp>
    </p:spTree>
    <p:extLst>
      <p:ext uri="{BB962C8B-B14F-4D97-AF65-F5344CB8AC3E}">
        <p14:creationId xmlns:p14="http://schemas.microsoft.com/office/powerpoint/2010/main" val="16202135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774EB7-42EC-483D-8C81-D903C907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4C9634B-126C-46A0-9659-EC35F074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01 / ROADMAP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871B5D-6BCB-43E9-B240-AA9CED36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0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這 85 分鐘，你會帶走四樣東西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846B020-A626-4C95-8CBF-90061BFA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10:35–12:00 流程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E86070BC-B1B0-4A63-A93E-2A8A667C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52" y="1965960"/>
            <a:ext cx="768096" cy="7680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F73C2F3-8363-48F9-AB7F-65D21E83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51460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C19C582-1699-4950-8187-098EAC52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54680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10:35　</a:t>
            </a:r>
            <a:r>
              <a:rPr sz="17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動手二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BFB88AA-F4E8-42E7-9CA9-19623C9C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5760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做出自己學校的
學生回饋單</a:t>
            </a: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1F6966F9-06BB-4EEE-AC27-D4D48B58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2221992"/>
            <a:ext cx="274320" cy="25603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8FE6BCF4-3561-41FC-933A-9B7037F0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692" y="1965960"/>
            <a:ext cx="768096" cy="7680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39824B8-8DCA-4FEB-A81D-ACAE8936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971800"/>
            <a:ext cx="251460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3995F35-7375-42A5-BC76-3F5859B5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154680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065A82"/>
                </a:solidFill>
                <a:latin typeface="Microsoft JhengHei"/>
                <a:ea typeface="Microsoft JhengHei"/>
                <a:cs typeface="Microsoft JhengHei"/>
              </a:rPr>
              <a:t>11:05　動手三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F4ECCDA-98C8-49C4-9D25-E9BC11F6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65760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名單＋出席＋
材料費一次解決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868E75F5-C7A2-4D8C-BBEE-3AD9023C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221992"/>
            <a:ext cx="274320" cy="25603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5CF92ED8-2399-4F5A-80E1-1102F212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332" y="1965960"/>
            <a:ext cx="768096" cy="7680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A6AA49A-4BAC-4855-B468-AC2138C2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971800"/>
            <a:ext cx="251460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BABE4D2-5FCB-4D59-9504-EE9BF25D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54680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rPr>
              <a:t>11:40　GitHub 示範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82B14AC-24B5-4995-980E-C38E2749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5760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版本控制＋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跨機器接手</a:t>
            </a:r>
          </a:p>
        </p:txBody>
      </p:sp>
      <p:sp>
        <p:nvSpPr>
          <p:cNvPr id="20" name="Right Arrow 19">
            <a:extLst xmlns:a="http://schemas.openxmlformats.org/drawingml/2006/main">
              <a:ext uri="{FF2B5EF4-FFF2-40B4-BE49-F238E27FC236}">
                <a16:creationId xmlns:a16="http://schemas.microsoft.com/office/drawing/2014/main" id="{F6C38B48-A622-46AB-A9EF-F2950F12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2221992"/>
            <a:ext cx="274320" cy="25603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D65F2A1F-C936-41F3-9A3F-F988F622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72" y="1965960"/>
            <a:ext cx="768096" cy="7680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EBAF68B-4F32-42D2-A0D8-E01D3149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971800"/>
            <a:ext cx="251460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6A1C9D3-3AB1-4B72-8723-5FE2D136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54680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C99A3E"/>
                </a:solidFill>
                <a:latin typeface="Microsoft JhengHei"/>
                <a:ea typeface="Microsoft JhengHei"/>
                <a:cs typeface="Microsoft JhengHei"/>
              </a:rPr>
              <a:t>11:50　收作品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D2BE881-A76B-438F-9BC3-999E061D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5760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回饋單＋名單出席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＋問題紀錄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85DAD00-B47F-4E37-9AB5-A493540B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2120"/>
            <a:ext cx="10835640" cy="6858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FE16725-D43A-4E06-BF59-3AEAAF66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87568"/>
            <a:ext cx="10332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全日收件節點：10:22（課程規劃表）、11:50（下半場作品）——以教材網最新版為準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28D3067-B715-4990-8BFA-61C35139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E77C312-6FDB-4C6E-857E-ADA29F17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95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5551561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6FE9A8-843F-4965-8B26-D34CB8E2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8F5E00C-3DBF-481E-B1C5-15BA8434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02 / WHY THIS MATTERS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02031BD-AF1C-4589-BF9B-D5FA0617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0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你想要的，和報告要交的，是同一件事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B96EF9B-9646-4EF0-8C1C-3794028B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成果報告書「肆・效益達成情形」＝七個百分比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B6D8B53-317A-4BF2-B55C-0CB578BF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212080" cy="4206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C7F8B8B-30FE-47CD-907A-41BAB34E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5740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065A82"/>
                </a:solidFill>
                <a:latin typeface="Microsoft JhengHei"/>
                <a:ea typeface="Microsoft JhengHei"/>
                <a:cs typeface="Microsoft JhengHei"/>
              </a:rPr>
              <a:t>學生面（①–④＋⑤）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70B0D87-C88D-40C4-B9AF-E7B6AA11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1460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① </a:t>
            </a: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對科學探索的興趣提升</a:t>
            </a:r>
            <a:r>
              <a:rPr sz="13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　← 回饋單 第 1 題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269C758-E495-4F48-BAB7-C928A3E5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90088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② </a:t>
            </a: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上課專心、能參與討論</a:t>
            </a:r>
            <a:r>
              <a:rPr sz="13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　← 回饋單 第 2 題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F3F2E9D-F57F-4317-9614-C8D5FB00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65576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③ </a:t>
            </a: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能自己完成實驗操作</a:t>
            </a:r>
            <a:r>
              <a:rPr sz="13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　← 回饋單 第 3 題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0A23516-34EC-4823-A28B-924E4BC9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41064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④ </a:t>
            </a: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能向別人說明實驗</a:t>
            </a:r>
            <a:r>
              <a:rPr sz="13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　← 回饋單 第 4 題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47C3C9A-73FA-48E3-8125-9C6DAFDF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416552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⑤ </a:t>
            </a: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社團整體出席率</a:t>
            </a:r>
            <a:r>
              <a:rPr sz="13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　← 教室日誌（出席表）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BC9F071-BF76-44F6-8FA4-39C92C26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83480"/>
            <a:ext cx="4663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065A82"/>
                </a:solidFill>
                <a:latin typeface="Microsoft JhengHei"/>
                <a:ea typeface="Microsoft JhengHei"/>
                <a:cs typeface="Microsoft JhengHei"/>
              </a:rPr>
              <a:t>⑥⑦ 師資面</a:t>
            </a:r>
            <a:r>
              <a:rPr sz="14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（延伸應用、專業增能）＝老師自評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12EA4B3-DE00-4850-867B-EDE655C8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257800" cy="4206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DF3E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33D156A-EE5D-4E71-AC56-D47F86C7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574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800" b="1" i="0">
                <a:solidFill>
                  <a:srgbClr val="C99A3E"/>
                </a:solidFill>
                <a:latin typeface="Microsoft JhengHei"/>
                <a:ea typeface="Microsoft JhengHei"/>
                <a:cs typeface="Microsoft JhengHei"/>
              </a:rPr>
              <a:t>真正會卡住的，是沒有留下證據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694DE97-01B6-4795-9FB3-8EF8322B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06040"/>
            <a:ext cx="470916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①–④ 要有回饋單等可追溯資料支撐；回饋單不是唯一來源。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⑤ 來自教室日誌；⑥⑦ 由授課老師自評。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學期初先把題目設計好、把紀錄方式準備好。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實際發放與回收時點，仍待基金會窗口確認。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送件時要能說明每個百分比的分子、分母與來源。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EA8753C-3461-4C29-A17D-69224831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B48E9CB-0598-421F-90A2-C9480326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95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2168861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AA5E785-CDA4-4370-9E05-7A98C7A1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7D92A05-161E-4CAB-8011-0077F29B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03 / HANDS-ON II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DBED620-B5BF-4093-9EA0-8526EA8E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0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回饋單四題，一題對一個官方百分比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88E3BCA-3BA1-4ECC-908B-444AF855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動手二・學生回饋單（10:35–11:05）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59EF25B-9823-49EB-9E3E-EC637B2E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35640" cy="80467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E28684DB-3C03-43DB-B6C7-A214F1EE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510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48ECDED-CDBA-472E-B143-AED65BEC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56816"/>
            <a:ext cx="6949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6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參加社團以後，我更想知道科學的「為什麼」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06BE705-D4A7-451E-B36C-7A50A7E1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956816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官方 ① 興趣提升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116C67A-F7DC-4DD7-8AB4-D56525B8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1488"/>
            <a:ext cx="10835640" cy="80467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7B55F4E2-B8AD-4D2B-9431-1FCA5956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7792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7CDB51D-A7A4-4B15-A48D-9ADCAB51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889504"/>
            <a:ext cx="6949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6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上課的時候，我會專心聽，也會跟大家一起討論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37A8AA9-D6ED-49E4-86DB-663DD45E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889504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065A82"/>
                </a:solidFill>
                <a:latin typeface="Microsoft JhengHei"/>
                <a:ea typeface="Microsoft JhengHei"/>
                <a:cs typeface="Microsoft JhengHei"/>
              </a:rPr>
              <a:t>官方 ② 課堂參與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82DC954-A9E1-45E5-A41D-10ACFE74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4176"/>
            <a:ext cx="10835640" cy="80467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FDEA7E07-C6D0-4369-8538-6ACB0134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04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9A73B13-6976-4FED-8B4A-D60FC7E0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822192"/>
            <a:ext cx="6949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6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做實驗時，我會照安全規則做，可以自己完成，或老師稍微提醒就能完成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8036DA1-A699-45C3-91DC-10515FBF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822192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rPr>
              <a:t>官方 ③ 獨立操作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5E9E430-59EF-4BBF-8803-4F8D6380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6864"/>
            <a:ext cx="10835640" cy="80467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5A172E1F-34B3-4FD3-9D28-2474C895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31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44324BC-5EF5-4D6F-B61F-3D64880A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754880"/>
            <a:ext cx="6949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6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我可以跟別人說明實驗在做什麼，或介紹我做出來的成果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2C86C47-517A-4AA1-A4E5-C8BDC97F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C99A3E"/>
                </a:solidFill>
                <a:latin typeface="Microsoft JhengHei"/>
                <a:ea typeface="Microsoft JhengHei"/>
                <a:cs typeface="Microsoft JhengHei"/>
              </a:rPr>
              <a:t>官方 ④ 能說明實驗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F7B74C12-C4B3-489D-B33A-9D2BF5CB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4416"/>
            <a:ext cx="10835640" cy="658368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6D4577C-9641-447B-8C30-68811082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751576"/>
            <a:ext cx="1033272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教學暫用示例：「很同意」＋「同意」人數 ÷ 有效回收份數；不是官方公式。
分子、分母與門檻，送件前向基金會窗口確認。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C88EBE7-2BFF-484B-85A6-2531F76A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4CC392E-961D-4FBC-A962-2A963F31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95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1735967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9981ED5-ACD6-4176-B350-BBCD471B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34BFD7-CB44-4859-9E9F-0431DB87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04 / STEP 1 / PLAN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584DD59-86B8-44A3-9859-756DDF0B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0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步驟一：在 Antigravity 先釐清規格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7D77217-50ED-4FEE-9D3E-5862DA1D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下半場只用一個 AI：四段都留在同一個對話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8DC9497-119E-463C-A5E7-E8459DBC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766560" cy="41605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F82F0D7-ED53-4A89-9E78-65598521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766560" cy="47548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FC6EB04-2C81-4E67-8211-75280658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1952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提示詞卡①　釐清規格（貼給 Antigravity）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F2F4EF6-2AF1-4F66-97FF-13B1B65C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630936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我要製作科學社團的學生回饋單工具。請先讀資料夾裡的基金會成果報告書官方範本，找到附件三與學生面①②③④原文；找不到就停，不要自編。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請分成「已確認」與「待確認」：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・題目要能追溯到①②③④；回饋單不是唯一證據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・學期初先設計好；發放與回收時點待基金會確認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・百分比要顯示分子、分母、有效回答數；門檻標「待確認」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先只列規格與缺口，不要寫程式。練習不用真人資料。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2811187-82BA-496B-8CA1-221173DB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828800"/>
            <a:ext cx="3794760" cy="41605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3A01D9B-E402-483C-9565-B4AE2F4F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600" b="1" i="0">
                <a:solidFill>
                  <a:srgbClr val="065A82"/>
                </a:solidFill>
                <a:latin typeface="Microsoft JhengHei"/>
                <a:ea typeface="Microsoft JhengHei"/>
                <a:cs typeface="Microsoft JhengHei"/>
              </a:rPr>
              <a:t>為什麼只用一個 AI？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0F1112A-79D3-4FD3-83A1-F06FC411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60320"/>
            <a:ext cx="329184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下半場不切工具，減少新手負擔。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在同一個 Antigravity 對話依序做：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①釐清 → ②實作 → ③檢查 → ④修正重驗。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每一步都重新對照官方原文；不知道的地方寫「待確認」，不要猜。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EE8D7DE-40E4-4A78-874A-9B43D698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A38D627-5087-44FE-B882-130F1DAA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95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17775654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6144D9-8DAD-4FEE-9766-3D61FD09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48496F9-A214-48D3-9E98-D4693FAF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05 / STEP 2 / BUILD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F66E63B-C846-47E8-B6B6-498513C0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0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步驟二：Antigravity 做出檔案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F388961-0BC8-4281-834E-ED582999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留在同一個對話，把規格做成可列印、可重開的檔案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698D3E0-94FF-4320-96D0-73F1E604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766560" cy="41605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3369010-8B83-4CF7-8BB1-5F68567B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766560" cy="47548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03AE3B4-6B65-4319-82C0-B6103708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1952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提示詞卡②　實作（留在同一個對話）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CF7FE0F-666C-4ECB-9A98-1F475EFC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630936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請依剛才確認的規格，做一個離線可開的單一 HTML 工具，固定存成：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outputs/student-feedback.html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同名檔已存在就停下，不得覆蓋，也不得覆蓋 index.html。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工具至少要有：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・依官方附件三欄位的空白回饋單，可列印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・①②③④結果摘要，顯示分子、分母、有效回答數；門檻標「待確認」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・只用虛構或彙總數字；資料重開仍在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3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完成後告訴我檔案位置與開啟方式。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A17D931-6771-4C62-8419-71975D11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828800"/>
            <a:ext cx="3794760" cy="41605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DF3E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266CC5-11B0-4C3D-8214-8D26CBE1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600" b="1" i="0">
                <a:solidFill>
                  <a:srgbClr val="C99A3E"/>
                </a:solidFill>
                <a:latin typeface="Microsoft JhengHei"/>
                <a:ea typeface="Microsoft JhengHei"/>
                <a:cs typeface="Microsoft JhengHei"/>
              </a:rPr>
              <a:t>完成後先做三件事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691908-F3B5-4FDD-8D17-F4A9B97A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60320"/>
            <a:ext cx="329184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1. 確認檔案在 outputs/student-feedback.html。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2. 關掉再開，資料仍在。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3. 實際列印，文字與選項沒有被切掉。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若做不出來，先開教材網 step3.html 的範例與提示詞，不要改用真實學生資料測試。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BEAEDED-270D-4322-B9CC-81885374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7D717DC-3AD6-4468-B299-8CD89B92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95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1845408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2E103E-83C5-4AC7-AF83-499214F9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112C20D-73BC-4AF3-BD45-DA90DA58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06 / STEP 3 / VERIFY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C41C140-A6C4-4D9D-8F55-CE55C340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0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步驟三、四：同一個 Antigravity 檢查、修正、重驗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F93CDD0-58FE-411E-8B92-8704199D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AI 會說完成；你要看證據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5055AAD-9083-46FD-B231-DF45B5CE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212080" cy="41605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B357351-719C-4376-B512-F55BCFF9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5740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600" b="1" i="0">
                <a:solidFill>
                  <a:srgbClr val="B43B3B"/>
                </a:solidFill>
                <a:latin typeface="Microsoft JhengHei"/>
                <a:ea typeface="Microsoft JhengHei"/>
                <a:cs typeface="Microsoft JhengHei"/>
              </a:rPr>
              <a:t>先列問題，再決定要修什麼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0D80D8-B853-4900-9C57-AAABA9A7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0"/>
            <a:ext cx="466344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45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檢查時重新讀官方附件三與成果報告書：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・欄位是否完整，有沒有自行改寫？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45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・①②③④能否追溯？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・是否顯示分子、分母、有效回答數，並把門檻標「待確認」？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45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・發放／回收時點是否仍標「待確認」？</a:t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45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45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只列問題，先不要修改；每一條都要自己在畫面上試一次。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A9662F2-0ABE-4C7C-ABA4-286293BE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257800" cy="41605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7E284D-F797-47B3-9EC0-9294AA8C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257800" cy="47548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CD670B-40F8-49BE-BA3D-83810028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1952"/>
            <a:ext cx="4800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提示詞卡③④　檢查 → 修正並重驗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4E66F25-E491-408A-AB5F-63F6412C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450592"/>
            <a:ext cx="48006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請重新開啟 outputs/student-feedback.html，重新讀官方原件，逐條列出問題，先不要修改。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我確認後，你再只修指定項目；先備份成 student-feedback-before-fix.html，不得覆蓋舊備份。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修正後重跑：開檔、重開、列印、百分比來源、待確認標示、個資檢查。</a:t>
            </a:r>
          </a:p>
          <a:p xmlns:a="http://schemas.openxmlformats.org/drawingml/2006/main">
            <a:pPr algn="l">
              <a:lnSpc>
                <a:spcPct val="122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最後分成「已修正」與「仍待確認」回報。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C7CBB8D-CDC5-4EB7-B62D-A22297C4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2D4E8B0-5BAF-4B3A-A35F-FC06B633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95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10700922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D4D91BB-BE5D-4050-9B54-36F8D5AD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04205A-1CC5-43A2-9F73-5598FB09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07 / CHECKLIST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9BAF544-0094-4DB8-BD40-B16FDA95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0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AI 說「完成了」的時候，先做三件事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731FFC-4AF1-452A-8F8A-425DC2A8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驗收口訣（做成小卡帶回學校）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1FCBC5C-8B4D-4125-A39F-AD7D934C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3520440" cy="2286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C9A3FD64-9E5C-4DA9-9175-C5B3A86C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48839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①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B99CE49-EF35-4985-8CA5-7259400B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258567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9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對路徑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F45D78-6F0A-4E8F-80AD-91672A51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17519"/>
            <a:ext cx="2971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檔案在哪？真的打得開嗎？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EB52AF3-64AE-4250-ABB6-EAE7EF36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874519"/>
            <a:ext cx="3520440" cy="2286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E2F60FB-3647-4BE7-AF9F-D2873E69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48839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②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96245D4-FF10-4B28-8368-814C8509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258567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9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對數量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3FBB8C2-5DB5-444A-A75E-EE9A5313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17519"/>
            <a:ext cx="2971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我給 11 張照片，它處理了幾張？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552A511-CE0C-4227-8F38-371E3EA5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874519"/>
            <a:ext cx="3520440" cy="2286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42926B6E-0D1E-4A52-8FD2-DC258305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148839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③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5263966-435B-4D90-A2D9-B1FFA056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58567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9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抽查內容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BA7285C-E7A0-49F5-A02C-72005F27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017519"/>
            <a:ext cx="2971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隨便挑一項，跟事實對嗎？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EE9C7CF-E0BE-4204-90C4-3187B73B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4840"/>
            <a:ext cx="10835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三個都過，才相信「完成」。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3A8108F9-6815-40CF-A784-5D954642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4920"/>
            <a:ext cx="10835640" cy="868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99A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435B31C-9BD5-4318-B401-B62ED20F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230368"/>
            <a:ext cx="10332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0B1F3A"/>
                </a:solidFill>
                <a:latin typeface="Microsoft JhengHei"/>
                <a:ea typeface="Microsoft JhengHei"/>
                <a:cs typeface="Microsoft JhengHei"/>
              </a:rPr>
              <a:t>⏰ 11:50 收下半場作品　存好回饋單＋名單出席工具＋問題紀錄；檔名與路徑都確認過再交。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C915548-6ED2-414F-9DA0-F8AB06F5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2E7175E-DCFF-42F3-A0EB-78577A93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95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2219260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F0AA925-0407-48EE-B265-44A6357E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231102-55E3-469A-9909-BAF2B803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08 / HANDS-ON III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A8C2BD3-6E05-4E61-92CC-F245F517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0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教室日誌不是形式，是核銷的憑據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4DF7A9-7144-41C1-BE23-7AFEC074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動手三・名單＋出席＋材料費對帳（11:05–11:35）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D39B349-7BCA-4693-B65F-62DD2D4E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035040" cy="41605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F48567D-EF1E-4161-8631-E2808BB3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0312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065A82"/>
                </a:solidFill>
                <a:latin typeface="Microsoft JhengHei"/>
                <a:ea typeface="Microsoft JhengHei"/>
                <a:cs typeface="Microsoft JhengHei"/>
              </a:rPr>
              <a:t>基金會共識營簡報第 12 頁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9D6ECF9-60F0-444E-8255-91AD1183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606040"/>
            <a:ext cx="5486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7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材料費的份數，要和教室日誌上的「出席學生數＋兩位老師」相符。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02368B5-C50B-410D-9DFE-76A305C9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40480"/>
            <a:ext cx="5486400" cy="1986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出席 12 人、收據 15 份 → 可能被退件。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先按「全到」再改沒來的；仍有「未點名」就不要採用摘要。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5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個資紅線：身分證字號、戶籍住址、匯款帳號不進 AI／個人雲端，只填紙本。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8544A3D-FAA4-4718-ACB3-A42E8ECA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28800"/>
            <a:ext cx="4434840" cy="41605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413C432-8897-4DD0-A574-04767E50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2860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4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本週出席 12 人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592A915-8882-40B1-A6B8-FABD84A2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834640"/>
            <a:ext cx="3886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400"/>
              </a:spcAft>
              <a:buNone/>
            </a:pPr>
            <a:r>
              <a:rPr sz="2000" b="1" i="0">
                <a:solidFill>
                  <a:srgbClr val="5FA98A"/>
                </a:solidFill>
                <a:latin typeface="Microsoft JhengHei"/>
                <a:ea typeface="Microsoft JhengHei"/>
                <a:cs typeface="Microsoft JhengHei"/>
              </a:rPr>
              <a:t>＋ 老師 2 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D1B0FB2-7865-46E9-8906-DD4BFAD0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474720"/>
            <a:ext cx="3886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400"/>
              </a:spcAft>
              <a:buNone/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＝ 材料費 </a:t>
            </a:r>
            <a:r>
              <a:rPr sz="4400" b="1" i="0">
                <a:solidFill>
                  <a:srgbClr val="C99A3E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份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A407444-3E3B-4F8A-8105-7A198C24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5029200"/>
            <a:ext cx="3886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9FB4CC"/>
                </a:solidFill>
                <a:latin typeface="Microsoft JhengHei"/>
                <a:ea typeface="Microsoft JhengHei"/>
                <a:cs typeface="Microsoft JhengHei"/>
              </a:rPr>
              <a:t>出席率暫用口徑 → ⑤
分母送件前確認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50F77F5-B0BF-4556-8862-2C7ED61B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CEC7806-B624-412B-A6CC-C46706E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95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17605441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E8C99DD-490C-40C4-A568-1EE2063C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5DA530-2FAE-48FE-8163-5BF3EC1D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09 / READY-TO-USE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71E6C0-5561-46FF-B64A-E1FD9BD9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0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今天拿到的是能跑的東西，不必從零開始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4EC4905-8000-40E1-8A94-A7B1369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仰望科學社團管理系統・豐兆老師的操作範例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5DAD8A0-60F3-4852-903E-B1F008B0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35640" cy="78638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D00485FE-60C0-4F7D-A3CB-CA42FE11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DE8A75D-563A-407C-86E2-E802E395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47672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6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貼上名單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CC7EBF2-16E3-4CAA-99A7-C6128690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1947672"/>
            <a:ext cx="7589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先用虛構名單練習；真實名單只留在學校核准的受控位置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89676FC-C5C6-404F-B627-7CC3DC60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35640" cy="78638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B2C2319-074F-4E92-B3D5-86761CC3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D8B89F7-1642-45C2-91E6-FB189B9A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862072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6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每週點名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18944C4-E7C4-46C7-A8D3-4C5B212C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862072"/>
            <a:ext cx="7589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先按「全到」，再改缺席／請假；未點名完成前不要採用摘要數字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A9CA635-0DFE-476C-877F-C2C5B56B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35640" cy="78638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2229CE68-AFED-4355-89C0-91E36ED2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F16EAE7-3EB2-49C3-928E-5489F3C5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776472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6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自動對帳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C81FCE8-76B0-4D87-878D-792D36F3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3776472"/>
            <a:ext cx="7589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依畫面逐項核對回饋、出席與材料費；待確認口徑不要稱為官方公式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6867F78-339A-4A33-A002-D6603722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35640" cy="78638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AB348C19-7FD4-4305-AE9B-12A6A0DF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916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D9437C0-B0C5-4B3E-94D8-1BDD368C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690872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6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匯出備份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4A89D91-BB31-49DA-A92C-5F8E0A3C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4690872"/>
            <a:ext cx="7589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先匯出 .json 備份再做還原測試；換電腦前務必實際驗證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2EA19AC-2D71-46E0-948C-728D6D02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1264"/>
            <a:ext cx="10835640" cy="713232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8335155-75E0-4F5C-A5B9-BA9726FA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32704"/>
            <a:ext cx="1033272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直接開啟：rlirdo.github.io/yangwang-club-manager/　離線用可另存 HTML；備份檔含真名，不用 LINE／email 傳，也不 push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7127E64-EB98-42C3-9D65-FC6D9BE4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CEB8FF1-2ED5-44F3-8BD7-7DE7E2C7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95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20414321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6EBE5C1-EEBD-4836-8AE4-4E3A0C11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276324-BC6B-4538-9395-2AE4B0D3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10 / PITFALLS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DA8DC05-B0B8-4EFE-8A86-5EB1F19C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0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三個核銷地雷，現在記下來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F79CEA-2904-4C8D-B1A7-ED7958F8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踩到一個，出納就會把單子退回來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DF051A2-6C0C-458D-9918-CE206302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0240"/>
            <a:ext cx="3520440" cy="3108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8FDA47C2-9D6E-4E58-B8C9-33C890DB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9456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3B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!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51B0D21-1B5D-4852-893D-74A585AD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267712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上下期要分開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BACD9B1-BF5F-4D0C-809F-7E2C0646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71800"/>
            <a:ext cx="29718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4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同一張請購單，2026 年 9–12 月和 2027 年 1–6 月要分開填。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B49CC2-E806-485A-8145-AE59D13E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2971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rPr>
              <a:t>✔ </a:t>
            </a:r>
            <a:r>
              <a:rPr sz="135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跨期的單子直接拆成兩張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27E4B3E-122E-449F-A6D5-974870C5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3520440" cy="3108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47B3BF05-E13C-4D3D-B618-3E5A64A7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9456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3B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!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F4150A6-9B8C-46B0-ACB9-36FDB994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鐘點費看上課日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41C05FC-3401-4DCB-9749-050E9150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71800"/>
            <a:ext cx="29718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4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鐘點費認列「實際上課日期」，不是請購日期。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DF8674E-C542-45A2-9C5C-4B2931F0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51960"/>
            <a:ext cx="2971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rPr>
              <a:t>✔ </a:t>
            </a:r>
            <a:r>
              <a:rPr sz="135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時數表上的日期＝教室日誌的日期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6DE6111-2D92-40A6-9100-70FA6E6C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920240"/>
            <a:ext cx="3520440" cy="3108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031E8052-8921-4D22-87ED-032EB054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19456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3B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!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574AF47-00CE-4F5D-A326-FA7E6643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7712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材料費看發票日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7A95B52-0E57-4BD6-8E9B-BFC10DDD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971800"/>
            <a:ext cx="29718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4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材料費認列「發票上的日期」，份數＝出席＋老師 2 位。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CFA6732-B8C0-4CD8-80F3-9868022E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251960"/>
            <a:ext cx="2971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rPr>
              <a:t>✔ </a:t>
            </a:r>
            <a:r>
              <a:rPr sz="135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收據份數先跟點名結果對過再送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ADDDA59-70FC-4A16-B199-72E87D22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10835640" cy="77724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99A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B1B8EE1-9DDE-4FA1-A5EB-2ADC2D9F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0"/>
            <a:ext cx="10332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0B1F3A"/>
                </a:solidFill>
                <a:latin typeface="Microsoft JhengHei"/>
                <a:ea typeface="Microsoft JhengHei"/>
                <a:cs typeface="Microsoft JhengHei"/>
              </a:rPr>
              <a:t>⏰ 11:50 收下半場作品　名單匯入＋本週點名＋材料費份數；連同回饋單與問題紀錄一起確認。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BAB35AA-40E9-4F69-8745-E021B1A4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00C2C2A-3F04-4681-91A9-FA99650A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95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205759202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E81018-A6AC-464D-A285-41BE8D89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C13ED9-A7AD-4849-878A-332C77F1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11 / SHOWCASE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9065E09-4556-4185-A54D-558050D8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0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從一學期照片挑出能交代過程的證據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84A25D2-19FC-4EDF-A5C4-226077B6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結案入口（11:35–11:40）：先對照成果報告書的課程紀錄欄位與張數要求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C185396-D988-4A3B-8210-875C69B2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0240"/>
            <a:ext cx="10835640" cy="960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196CDD5C-A7C1-4521-BC6E-85060797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055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①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CB2AE21-E499-4192-A9AE-F47F080C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029968"/>
            <a:ext cx="4206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這張對應到第幾週？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C73EC20-B556-4771-A033-BF57C5E1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29968"/>
            <a:ext cx="5303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4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答不出來 → 不選。每張照片都要能掛回課程規劃表。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9B72860-F573-4495-84A7-45F1AC87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7520"/>
            <a:ext cx="10835640" cy="960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BA890E36-CA6F-4D43-97D6-30330A31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783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②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3BF8079-4893-4B37-AF00-594D8455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127248"/>
            <a:ext cx="4206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這一週已經有兩張了嗎？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FEDD1DC-E63F-4825-B258-D7E7D366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127248"/>
            <a:ext cx="5303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4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一張看得到「人在動作」，一張是「東西或成果」。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7F85ED5-CF24-4140-ABCB-75644250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35640" cy="960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D94E872D-EE38-4AAB-AFC6-6120B617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51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③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B4A02C4-C39E-495B-85CF-0045D2BA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24528"/>
            <a:ext cx="4206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今天有失敗或意外嗎？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42D2B5B-8177-4303-9D22-CC1DEBF0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224528"/>
            <a:ext cx="5303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4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有的話優先放——官方計畫目的就寫著「從失敗中找原因」。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99369CA-DDAA-43E7-92FA-93ECACCF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3520"/>
            <a:ext cx="10835640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F3E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1171EBB-F1F4-4F53-857C-96257B54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13248"/>
            <a:ext cx="10332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C99A3E"/>
                </a:solidFill>
                <a:latin typeface="Microsoft JhengHei"/>
                <a:ea typeface="Microsoft JhengHei"/>
                <a:cs typeface="Microsoft JhengHei"/>
              </a:rPr>
              <a:t>先確認學校影像同意範圍涵蓋校外成果報告。拍攝前掃背景：座位表、聯絡簿、制服姓名都不要入鏡；沒涵蓋的孩子只拍背影或手部。圖說只寫照片上真的看得到的事。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DC50D60-9F16-4D99-AE43-44060BAD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AFE8BA0-F0F3-4809-AAB1-F54C60CB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95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72207342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F9EB1D-ADB8-41E4-A9D0-C5DC11F4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509B808-C9F6-4B9A-9423-A5EE5BEE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12 / TAKEAWAYS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66A4E8B-9082-421E-AC58-B0E7ED1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0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今天帶回學校的四個課後入口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B3AC77A-D28B-4532-989B-4D89E138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11:50–12:00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E852964-1067-4287-A25A-E9306192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5257800" cy="1874519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A5D9A9-403F-4379-92A9-344A0B62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28016" cy="187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03D148B-5E98-4BCB-90F8-8806E9D5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75687"/>
            <a:ext cx="4663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8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範本系統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6C0C6C9-C972-4F48-A474-996C9B2A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06039"/>
            <a:ext cx="4663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操作範例：rlirdo.github.io/yangwang-club-manager/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教材步驟：step2.html、step3.html、step5.html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7EA3355-1220-4BC0-8BD7-9F748C53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74519"/>
            <a:ext cx="5257800" cy="1874519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629F7E1-6CA7-46D5-9947-05E872F2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74519"/>
            <a:ext cx="128016" cy="187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8BAE9F0-E0AA-4017-9F48-7BEE4F94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75687"/>
            <a:ext cx="4663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800" b="1" i="0">
                <a:solidFill>
                  <a:srgbClr val="065A82"/>
                </a:solidFill>
                <a:latin typeface="Microsoft JhengHei"/>
                <a:ea typeface="Microsoft JhengHei"/>
                <a:cs typeface="Microsoft JhengHei"/>
              </a:rPr>
              <a:t>提示詞卡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D9A668F-F581-4FB4-83B3-7BC5C65E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6039"/>
            <a:ext cx="4663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下半場：單一 Antigravity 做①釐清 ②實作 ③檢查 ④修正重驗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6E2D0E9-1821-4CA0-90AD-E15295B0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7639"/>
            <a:ext cx="5257800" cy="1874519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A3D08A7-CBE7-40CF-B071-EC00A3D5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7639"/>
            <a:ext cx="128016" cy="187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BF25BF5-7591-4063-B70D-FF956F85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78807"/>
            <a:ext cx="4663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800" b="1" i="0">
                <a:solidFill>
                  <a:srgbClr val="2E7D5B"/>
                </a:solidFill>
                <a:latin typeface="Microsoft JhengHei"/>
                <a:ea typeface="Microsoft JhengHei"/>
                <a:cs typeface="Microsoft JhengHei"/>
              </a:rPr>
              <a:t>參考資源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005E572-79DB-4365-9B23-B1807E09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09159"/>
            <a:ext cx="4663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課程表範本 24 列 ≠ 固定 24 週；校本例：28 次／19 次／22 週
格式與數字一律回到官方原件核對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BAF6694-A345-4C1B-A87E-28766453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39"/>
            <a:ext cx="5257800" cy="1874519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8FFF0D9-C9C3-4CDE-9DD3-FBC7955B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39"/>
            <a:ext cx="128016" cy="187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6D9628C-E15B-447A-A403-06D6071F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8807"/>
            <a:ext cx="4663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800" b="1" i="0">
                <a:solidFill>
                  <a:srgbClr val="C99A3E"/>
                </a:solidFill>
                <a:latin typeface="Microsoft JhengHei"/>
                <a:ea typeface="Microsoft JhengHei"/>
                <a:cs typeface="Microsoft JhengHei"/>
              </a:rPr>
              <a:t>GitHub 接續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3ACFB13-E7B5-4A95-B878-2E30BFD9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09159"/>
            <a:ext cx="4663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40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commit／push 留下版本，另一台 clone／pull 接手；部署可用 GitHub Pages、Netlify 等服務，但屬選配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D3F733D-229C-4E4B-B1DD-7ABCA999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7F093DC-BB50-44F9-9F35-7DB84516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95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2709382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FB2E04-85B4-4E4D-9466-4AEA75B3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A8BDC1A-002C-44A7-B3B8-8A10A0D5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13 / NEXT 7 DAYS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3065C96-CE7E-46C4-B962-68619DE3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30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回學校後的第一週，先完成這三件事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0B2241-8152-441D-8A5F-C40ECF75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 i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照教材網重新做一次；卡住就停在「待確認」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1ACEAAB-02AA-4779-9A38-5F807AAF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10835640" cy="1143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52324568-A4B8-44D3-A492-9D01C90A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2199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F556E09-DBCB-401F-8B61-26DE1468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30552"/>
            <a:ext cx="3291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把回饋單準備好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0E36626-A854-48AD-84DE-D99B7A53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130552"/>
            <a:ext cx="6035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4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學期初先把題目與紀錄方式準備好；實際發放與回收時點，等基金會窗口確認後再執行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850638B-EED0-4E59-BE62-7405B89C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4408"/>
            <a:ext cx="10835640" cy="1143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F306049A-FF35-4779-815E-368F2CBF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52044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51012E5-52B4-4A9A-835B-68D08086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29000"/>
            <a:ext cx="3291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用虛構資料重跑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BE6051D-2325-425E-9F7C-5069ADD7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429000"/>
            <a:ext cx="6035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4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用虛構資料完成四段流程。離開 AI 後，真實資料只在校方核准的本機受控工具載入；不得貼回 AI／push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93C72B0-6939-4F05-A399-ECE4170A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856"/>
            <a:ext cx="10835640" cy="1143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3ADF3EF-2CE3-443E-9D42-F555D9FE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18888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03328D7-5892-4992-B88E-BD759BA2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27448"/>
            <a:ext cx="3291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備份、清除、跨機測試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DADDBF1-A19A-4746-93D8-B06109C1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727448"/>
            <a:ext cx="6035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400"/>
              </a:spcAft>
              <a:buNone/>
            </a:pPr>
            <a:r>
              <a:rPr sz="1450" b="0" i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真實資料備份只留在校方核准位置；只把不含個資的程式 commit／push，再用空資料夾 clone／pull 驗證接手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C0D0061-547C-40C2-B23C-91BA791C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35640" cy="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DA72724-D7D6-453F-804E-70F280F2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CB4DC9C-2287-4526-88FE-A1C8722A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095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40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94230619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85EE13-5DB4-462B-BF9D-AA6C2B04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DE8774E7-E43B-4858-8F81-AD9F1277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495" y="-164592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868EE75-B6B2-4B00-9114-74053CDA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600" b="1" i="0">
                <a:solidFill>
                  <a:srgbClr val="5FA98A"/>
                </a:solidFill>
                <a:latin typeface="Microsoft JhengHei"/>
                <a:ea typeface="Microsoft JhengHei"/>
                <a:cs typeface="Microsoft JhengHei"/>
              </a:rPr>
              <a:t>科學教育向下扎根・擴大學習影響力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09FBFE-C350-4063-A5F0-DBC64336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06070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不是你們落後——</a:t>
            </a:r>
          </a:p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先把每一步留下證據，明年寫報告就不必重新回想。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B945863-B4F0-4E83-A7A3-C0D08974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2048256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有問題隨時來信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BE6EF09-B4D8-4651-AB50-53ECD270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4114800"/>
            <a:ext cx="217170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erntmap@gmail.com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E82BCF4-9A28-470F-8142-98380CBF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14800"/>
            <a:ext cx="1435608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03-8905179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AB49444-29D1-49D3-B6AB-90C7BEE7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游豐兆</a:t>
            </a:r>
            <a:r>
              <a:rPr sz="1400" b="0" i="0">
                <a:solidFill>
                  <a:srgbClr val="9FB4CC"/>
                </a:solidFill>
                <a:latin typeface="Microsoft JhengHei"/>
                <a:ea typeface="Microsoft JhengHei"/>
                <a:cs typeface="Microsoft JhengHei"/>
              </a:rPr>
              <a:t>　仿生與環境實驗室・國立東華大學自然資源與環境學系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300" b="0" i="0">
                <a:solidFill>
                  <a:srgbClr val="9FB4CC"/>
                </a:solidFill>
                <a:latin typeface="Microsoft JhengHei"/>
                <a:ea typeface="Microsoft JhengHei"/>
                <a:cs typeface="Microsoft JhengHei"/>
              </a:rPr>
              <a:t>感謝 仰望教育基金會（Kao Family Foundation）</a:t>
            </a:r>
          </a:p>
        </p:txBody>
      </p:sp>
    </p:spTree>
    <p:extLst>
      <p:ext uri="{BB962C8B-B14F-4D97-AF65-F5344CB8AC3E}">
        <p14:creationId xmlns:p14="http://schemas.microsoft.com/office/powerpoint/2010/main" val="8790140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2026-08-13T12:04:33.7470000Z</dcterms:created>
  <dcterms:modified xsi:type="dcterms:W3CDTF">2026-08-13T12:04:33.7470000Z</dcterms:modified>
</coreProperties>
</file>